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66" r:id="rId5"/>
    <p:sldId id="259" r:id="rId6"/>
    <p:sldId id="260" r:id="rId7"/>
    <p:sldId id="267" r:id="rId8"/>
    <p:sldId id="261" r:id="rId9"/>
    <p:sldId id="262" r:id="rId10"/>
    <p:sldId id="263" r:id="rId11"/>
  </p:sldIdLst>
  <p:sldSz cx="9144000" cy="5143500" type="screen16x9"/>
  <p:notesSz cx="6858000" cy="9144000"/>
  <p:embeddedFontLst>
    <p:embeddedFont>
      <p:font typeface="Figtree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e5ea4ffb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e5ea4ffb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e5ea4ffb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e5ea4ffb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CC87289A-4284-8E4F-AFEE-4CA7B6201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e5ea4ffb3_0_15:notes">
            <a:extLst>
              <a:ext uri="{FF2B5EF4-FFF2-40B4-BE49-F238E27FC236}">
                <a16:creationId xmlns:a16="http://schemas.microsoft.com/office/drawing/2014/main" id="{DB5AF0BD-88BC-3C8B-9632-84BAFECAE0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e5ea4ffb3_0_15:notes">
            <a:extLst>
              <a:ext uri="{FF2B5EF4-FFF2-40B4-BE49-F238E27FC236}">
                <a16:creationId xmlns:a16="http://schemas.microsoft.com/office/drawing/2014/main" id="{CB087AA0-072A-48B9-FC39-E879805CEB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2872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e5ea4ffb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e5ea4ffb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e5ea4ffb3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e5ea4ffb3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68C37DDF-E832-70B0-A77D-803F8DC82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e5ea4ffb3_0_20:notes">
            <a:extLst>
              <a:ext uri="{FF2B5EF4-FFF2-40B4-BE49-F238E27FC236}">
                <a16:creationId xmlns:a16="http://schemas.microsoft.com/office/drawing/2014/main" id="{57046B74-F87D-2564-2F2F-B258302818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e5ea4ffb3_0_20:notes">
            <a:extLst>
              <a:ext uri="{FF2B5EF4-FFF2-40B4-BE49-F238E27FC236}">
                <a16:creationId xmlns:a16="http://schemas.microsoft.com/office/drawing/2014/main" id="{CC1A0949-44D5-BECD-4F1A-28CB273ACE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25048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e5ea4ffb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e5ea4ffb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e5ea4ffb3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e5ea4ffb3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880e6e05e_0_4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880e6e05e_0_4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02-ctlWFoPGHs7WK3aLANhji544rvL8a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rive.google.com/file/d/1R-MD-VWaA4sO7YaQizRVXujux312xdMG/view?usp=drive_link" TargetMode="External"/><Relationship Id="rId5" Type="http://schemas.openxmlformats.org/officeDocument/2006/relationships/hyperlink" Target="https://ev-battery-health-advisor-gfvndb4ecqjjzgjwsjj7ck.streamlit.app/" TargetMode="External"/><Relationship Id="rId4" Type="http://schemas.openxmlformats.org/officeDocument/2006/relationships/hyperlink" Target="https://github.com/ashwini-sawardekar/EV-Battery-Health-Advisor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ET AutoTech Hackathon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2026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4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Theme 5: </a:t>
            </a:r>
            <a:r>
              <a:rPr lang="en-US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AI for Circular Economy &amp; Sustainability</a:t>
            </a:r>
            <a:br>
              <a:rPr lang="en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</a:br>
            <a:endParaRPr lang="en" dirty="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Ashwini Sawardekar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dirty="0">
                <a:solidFill>
                  <a:schemeClr val="lt1"/>
                </a:solidFill>
              </a:rPr>
              <a:t>Theme 5 - </a:t>
            </a:r>
            <a:r>
              <a:rPr lang="en-US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AI for Circular Economy &amp; Sustainability</a:t>
            </a:r>
            <a:br>
              <a:rPr lang="en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</a:br>
            <a:endParaRPr dirty="0">
              <a:solidFill>
                <a:schemeClr val="lt1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IN" b="1" dirty="0">
                <a:solidFill>
                  <a:schemeClr val="bg1"/>
                </a:solidFill>
              </a:rPr>
              <a:t>Project: EV Battery Health Advisor</a:t>
            </a:r>
          </a:p>
          <a:p>
            <a:pPr marL="0" lvl="0" indent="0" algn="r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Automating the Circular Economy: Real-time Battery Health &amp; Second-Life Grading</a:t>
            </a:r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By 2030, the world will face a massive influx of retired EV batteries. Currently, manual testing takes hours; our AI does it in seconds</a:t>
            </a:r>
            <a:endParaRPr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THE PROBLEM</a:t>
            </a:r>
            <a:endParaRPr dirty="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The Gap: EV battery decommissioning is a manual, bottleneck-heavy process.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US" dirty="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The Cost: Inefficient sorting leads to valuable batteries being scrapped too early or incorrectly repurposed, increasing costs for both manufacturers and recyclers.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US" dirty="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Key Stat: "80% of retired batteries still have significant life, yet lack a standardized, rapid grading system."</a:t>
            </a:r>
            <a:endParaRPr dirty="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65">
          <a:extLst>
            <a:ext uri="{FF2B5EF4-FFF2-40B4-BE49-F238E27FC236}">
              <a16:creationId xmlns:a16="http://schemas.microsoft.com/office/drawing/2014/main" id="{4E14D5C2-C4CC-BA75-60FB-7C809232F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>
            <a:extLst>
              <a:ext uri="{FF2B5EF4-FFF2-40B4-BE49-F238E27FC236}">
                <a16:creationId xmlns:a16="http://schemas.microsoft.com/office/drawing/2014/main" id="{07F6906D-40EB-5F32-5FCD-C6C875C7CF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THE SOLUTION</a:t>
            </a:r>
            <a:endParaRPr dirty="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5E4A23BE-81AB-97DB-F3B4-2C9F5E0D9B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The Approach: An intelligent, agentic system that predicts State of Health (SOH) using minimal sensor data.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US" dirty="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Key Advantage: </a:t>
            </a:r>
          </a:p>
          <a:p>
            <a:pPr marL="742950" lvl="1" indent="-285750">
              <a:spcAft>
                <a:spcPts val="1200"/>
              </a:spcAft>
            </a:pPr>
            <a:r>
              <a:rPr lang="en-US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Rapid Assessment: No need for full-charge cycles; infer health from short-duration data.</a:t>
            </a:r>
          </a:p>
          <a:p>
            <a:pPr marL="742950" lvl="1" indent="-285750">
              <a:spcAft>
                <a:spcPts val="1200"/>
              </a:spcAft>
            </a:pPr>
            <a:r>
              <a:rPr lang="en-US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Standardization: Generates automated "Health Passports" for every battery pack.</a:t>
            </a:r>
          </a:p>
          <a:p>
            <a:pPr marL="742950" lvl="1" indent="-285750">
              <a:spcAft>
                <a:spcPts val="1200"/>
              </a:spcAft>
            </a:pPr>
            <a:r>
              <a:rPr lang="en-US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Actionable Intelligence: AI automatically flags whether a battery is fit for Vehicle Reuse, Grid Storage, or Material Recovery.</a:t>
            </a:r>
            <a:endParaRPr dirty="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  <p:extLst>
      <p:ext uri="{BB962C8B-B14F-4D97-AF65-F5344CB8AC3E}">
        <p14:creationId xmlns:p14="http://schemas.microsoft.com/office/powerpoint/2010/main" val="2645427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PROPOSED TECH STACK/ARCHITECTURE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N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Tech Stack: </a:t>
            </a: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Model: Random Forest Regressor (tuned for time-series degradation).</a:t>
            </a: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Interface: </a:t>
            </a:r>
            <a:r>
              <a:rPr lang="en-IN" dirty="0" err="1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Streamlit</a:t>
            </a:r>
            <a:r>
              <a:rPr lang="en-IN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-based dashboard for real-time inference.</a:t>
            </a: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Backend: Scikit-learn &amp; </a:t>
            </a:r>
            <a:r>
              <a:rPr lang="en-IN" dirty="0" err="1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Plotly</a:t>
            </a:r>
            <a:r>
              <a:rPr lang="en-IN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 for interactive trend analysis.</a:t>
            </a:r>
            <a:endParaRPr dirty="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125356"/>
            <a:ext cx="8520600" cy="6329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Architecture Diagrams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9785C4-2E95-35EA-184B-1D820C7FC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59" y="940786"/>
            <a:ext cx="7887682" cy="36991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7">
          <a:extLst>
            <a:ext uri="{FF2B5EF4-FFF2-40B4-BE49-F238E27FC236}">
              <a16:creationId xmlns:a16="http://schemas.microsoft.com/office/drawing/2014/main" id="{9C3798FD-7766-0AC6-7FBA-F30358A41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>
            <a:extLst>
              <a:ext uri="{FF2B5EF4-FFF2-40B4-BE49-F238E27FC236}">
                <a16:creationId xmlns:a16="http://schemas.microsoft.com/office/drawing/2014/main" id="{5CC85F5A-861B-E681-D301-D552544493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25356"/>
            <a:ext cx="8520600" cy="6329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Screenshots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736658-43E0-B152-58AD-D7D5507ED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58" y="758283"/>
            <a:ext cx="4385170" cy="417799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9CA319B-4BAB-70F7-1A7F-7DECE443C1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1473" y="758283"/>
            <a:ext cx="4385170" cy="417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632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4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Why your solution must be considered?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311700" y="1338146"/>
            <a:ext cx="8520600" cy="32306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Business Impact: Reduces diagnostic time by ~90%, minimizes waste, and maximizes the ROI of battery assets.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US" dirty="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Scalability: The model is lightweight (Edge-ready). It can be integrated directly into local workshops or large-scale recycling facilities.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US" dirty="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The Vision: Providing the digital infrastructure for a truly circular automotive economy in emerging markets.</a:t>
            </a:r>
            <a:endParaRPr dirty="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Any Additional Information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Figtree"/>
                <a:ea typeface="Figtree"/>
                <a:cs typeface="Figtree"/>
                <a:sym typeface="Figtree"/>
              </a:rPr>
              <a:t>Our solution is designed for the Indian retrofit market, where cost-effective, rapid diagnostics are essential for scaling the EV ecosystem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Figtree"/>
                <a:ea typeface="Figtree"/>
                <a:cs typeface="Figtree"/>
                <a:sym typeface="Figtree"/>
              </a:rPr>
              <a:t>Links:</a:t>
            </a:r>
          </a:p>
          <a:p>
            <a:pPr marL="285750" indent="-285750">
              <a:spcAft>
                <a:spcPts val="1200"/>
              </a:spcAft>
            </a:pPr>
            <a:r>
              <a:rPr lang="en-US" dirty="0">
                <a:solidFill>
                  <a:schemeClr val="bg1"/>
                </a:solidFill>
                <a:latin typeface="Figtree"/>
                <a:ea typeface="Figtree"/>
                <a:cs typeface="Figtree"/>
                <a:sym typeface="Figtree"/>
              </a:rPr>
              <a:t>Google </a:t>
            </a:r>
            <a:r>
              <a:rPr lang="en-US" dirty="0" err="1">
                <a:solidFill>
                  <a:schemeClr val="bg1"/>
                </a:solidFill>
                <a:latin typeface="Figtree"/>
                <a:ea typeface="Figtree"/>
                <a:cs typeface="Figtree"/>
                <a:sym typeface="Figtree"/>
              </a:rPr>
              <a:t>Colab</a:t>
            </a:r>
            <a:r>
              <a:rPr lang="en-US" dirty="0">
                <a:solidFill>
                  <a:schemeClr val="bg1"/>
                </a:solidFill>
                <a:latin typeface="Figtree"/>
                <a:ea typeface="Figtree"/>
                <a:cs typeface="Figtree"/>
                <a:sym typeface="Figtree"/>
              </a:rPr>
              <a:t>: 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Figtree"/>
                <a:ea typeface="Figtree"/>
                <a:cs typeface="Figtree"/>
                <a:sym typeface="Figtree"/>
                <a:hlinkClick r:id="rId3"/>
              </a:rPr>
              <a:t>https://colab.research.google.com/drive/102-ctlWFoPGHs7WK3aLANhji544rvL8a</a:t>
            </a:r>
            <a:endParaRPr lang="en-US" dirty="0">
              <a:solidFill>
                <a:schemeClr val="bg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285750" indent="-285750">
              <a:spcAft>
                <a:spcPts val="1200"/>
              </a:spcAft>
            </a:pPr>
            <a:r>
              <a:rPr lang="en-US" dirty="0">
                <a:solidFill>
                  <a:schemeClr val="bg1"/>
                </a:solidFill>
                <a:latin typeface="Figtree"/>
                <a:ea typeface="Figtree"/>
                <a:cs typeface="Figtree"/>
                <a:sym typeface="Figtree"/>
              </a:rPr>
              <a:t>GitHub: 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Figtree"/>
                <a:ea typeface="Figtree"/>
                <a:cs typeface="Figtree"/>
                <a:sym typeface="Figtree"/>
                <a:hlinkClick r:id="rId4"/>
              </a:rPr>
              <a:t>https://github.com/ashwini-sawardekar</a:t>
            </a:r>
            <a:r>
              <a:rPr lang="en-US">
                <a:solidFill>
                  <a:schemeClr val="bg1"/>
                </a:solidFill>
                <a:latin typeface="Figtree"/>
                <a:ea typeface="Figtree"/>
                <a:cs typeface="Figtree"/>
                <a:sym typeface="Figtree"/>
                <a:hlinkClick r:id="rId4"/>
              </a:rPr>
              <a:t>/EV-Battery-Health-Advisor</a:t>
            </a:r>
            <a:endParaRPr lang="en-US" dirty="0">
              <a:solidFill>
                <a:schemeClr val="bg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285750" indent="-285750">
              <a:spcAft>
                <a:spcPts val="1200"/>
              </a:spcAft>
            </a:pPr>
            <a:r>
              <a:rPr lang="en-IN" dirty="0" err="1">
                <a:solidFill>
                  <a:schemeClr val="bg1"/>
                </a:solidFill>
                <a:latin typeface="Figtree"/>
                <a:ea typeface="Figtree"/>
                <a:cs typeface="Figtree"/>
                <a:sym typeface="Figtree"/>
              </a:rPr>
              <a:t>Streamlit</a:t>
            </a:r>
            <a:r>
              <a:rPr lang="en-IN" dirty="0">
                <a:solidFill>
                  <a:schemeClr val="bg1"/>
                </a:solidFill>
                <a:latin typeface="Figtree"/>
                <a:ea typeface="Figtree"/>
                <a:cs typeface="Figtree"/>
                <a:sym typeface="Figtree"/>
              </a:rPr>
              <a:t> App: 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en-IN" dirty="0">
                <a:solidFill>
                  <a:schemeClr val="bg1"/>
                </a:solidFill>
                <a:latin typeface="Figtree"/>
                <a:ea typeface="Figtree"/>
                <a:cs typeface="Figtree"/>
                <a:sym typeface="Figtree"/>
                <a:hlinkClick r:id="rId5"/>
              </a:rPr>
              <a:t>https://ev-battery-health-advisor-gfvndb4ecqjjzgjwsjj7ck.streamlit.app/</a:t>
            </a:r>
            <a:endParaRPr lang="en-IN" dirty="0">
              <a:solidFill>
                <a:schemeClr val="bg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285750" indent="-285750">
              <a:spcAft>
                <a:spcPts val="1200"/>
              </a:spcAft>
            </a:pPr>
            <a:r>
              <a:rPr lang="en-IN" dirty="0">
                <a:solidFill>
                  <a:schemeClr val="bg1"/>
                </a:solidFill>
                <a:latin typeface="Figtree"/>
                <a:ea typeface="Figtree"/>
                <a:cs typeface="Figtree"/>
                <a:sym typeface="Figtree"/>
              </a:rPr>
              <a:t>Video Demo:</a:t>
            </a:r>
          </a:p>
          <a:p>
            <a:pPr marL="457200" lvl="1" indent="0">
              <a:spcAft>
                <a:spcPts val="1200"/>
              </a:spcAft>
              <a:buNone/>
            </a:pPr>
            <a:r>
              <a:rPr lang="en-IN" dirty="0">
                <a:solidFill>
                  <a:schemeClr val="bg1"/>
                </a:solidFill>
                <a:latin typeface="Figtree"/>
                <a:ea typeface="Figtree"/>
                <a:cs typeface="Figtree"/>
                <a:sym typeface="Figtree"/>
                <a:hlinkClick r:id="rId6"/>
              </a:rPr>
              <a:t>https://drive.google.com/file/d/1R-MD-VWaA4sO7YaQizRVXujux312xdMG/view?usp=drive_link</a:t>
            </a:r>
            <a:endParaRPr lang="en-IN" dirty="0">
              <a:solidFill>
                <a:schemeClr val="bg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457200" lvl="1" indent="0">
              <a:spcAft>
                <a:spcPts val="1200"/>
              </a:spcAft>
              <a:buNone/>
            </a:pPr>
            <a:endParaRPr lang="en-IN" dirty="0">
              <a:solidFill>
                <a:schemeClr val="bg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THANK YOU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408</Words>
  <Application>Microsoft Office PowerPoint</Application>
  <PresentationFormat>On-screen Show (16:9)</PresentationFormat>
  <Paragraphs>47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Figtree</vt:lpstr>
      <vt:lpstr>Simple Light</vt:lpstr>
      <vt:lpstr>ET AutoTech Hackathon 2026</vt:lpstr>
      <vt:lpstr>Theme 5 - AI for Circular Economy &amp; Sustainability </vt:lpstr>
      <vt:lpstr>THE PROBLEM</vt:lpstr>
      <vt:lpstr>THE SOLUTION</vt:lpstr>
      <vt:lpstr>PROPOSED TECH STACK/ARCHITECTURE</vt:lpstr>
      <vt:lpstr>Architecture Diagrams</vt:lpstr>
      <vt:lpstr>Screenshots</vt:lpstr>
      <vt:lpstr>Why your solution must be considered?</vt:lpstr>
      <vt:lpstr>Any Additional Information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Ashwini Sawardekar</cp:lastModifiedBy>
  <cp:revision>17</cp:revision>
  <dcterms:modified xsi:type="dcterms:W3CDTF">2026-06-05T12:02:06Z</dcterms:modified>
</cp:coreProperties>
</file>